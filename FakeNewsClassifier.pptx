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528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Binary Classification 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AI Bootcamp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classify news articles as Fake (0) or Real (1) using NLP and traditional ML.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999965"/>
            <a:ext cx="1115568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045685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347437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713197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39,942 articles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36192" y="2640045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36776" y="1999965"/>
            <a:ext cx="1115568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36776" y="2045685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36776" y="2347437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36776" y="2713197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length,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timeline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61488" y="2640045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62072" y="1999965"/>
            <a:ext cx="1115568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62072" y="2045685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862072" y="2347437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62072" y="2713197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fields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86784" y="2640045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87368" y="1999965"/>
            <a:ext cx="1115568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87368" y="2045685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087368" y="2347437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87368" y="2713197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features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2640045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12664" y="1999965"/>
            <a:ext cx="1115568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12664" y="2045685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12664" y="2347437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12664" y="2713197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37376" y="2640045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1999965"/>
            <a:ext cx="1115568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045685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37960" y="2347437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2713197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Acc, F1, AUC,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662672" y="2640045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63256" y="1999965"/>
            <a:ext cx="1115568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63256" y="2045685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763256" y="2347437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63256" y="2713197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accuracy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92024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39,942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Articles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92024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0" y="1719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2024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719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92024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719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pic>
        <p:nvPicPr>
          <p:cNvPr id="16" name="Image 0" descr="/home/claude/eda_class_bal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9708" y="2423160"/>
            <a:ext cx="7757286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distribution (left) — Real articles concentrate in politicsNews &amp; worldnews; Fake spans politics, News and left-news.</a:t>
            </a:r>
            <a:endParaRPr lang="en-US" sz="1200" dirty="0"/>
          </a:p>
        </p:txBody>
      </p:sp>
      <p:pic>
        <p:nvPicPr>
          <p:cNvPr id="5" name="Image 0" descr="/home/claude/eda_03_subjec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112" y="1370391"/>
            <a:ext cx="6128746" cy="2045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(Real only): Dates available only for Real articles (2016–2017). Fake articles had no valid dates — a structural dataset difference.</a:t>
            </a:r>
            <a:endParaRPr lang="en-US" sz="1200" dirty="0"/>
          </a:p>
        </p:txBody>
      </p:sp>
      <p:pic>
        <p:nvPicPr>
          <p:cNvPr id="7" name="Image 1" descr="/home/claude/eda_04_timelin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30558" y="3574473"/>
            <a:ext cx="5766009" cy="14090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Article Length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titles are longer (~15 words vs ~10 for Real)</a:t>
            </a:r>
            <a:endParaRPr lang="en-US" sz="1100" dirty="0"/>
          </a:p>
        </p:txBody>
      </p:sp>
      <p:pic>
        <p:nvPicPr>
          <p:cNvPr id="6" name="Image 0" descr="/home/claude/eda_text_lengt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3161" y="1508760"/>
            <a:ext cx="420624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 Words in Headlines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6344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Fake: video, image, watch. Real: says, house, russia</a:t>
            </a:r>
            <a:endParaRPr lang="en-US" sz="1100" dirty="0"/>
          </a:p>
        </p:txBody>
      </p:sp>
      <p:pic>
        <p:nvPicPr>
          <p:cNvPr id="9" name="Image 1" descr="/home/claude/eda_05_top_word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1508760"/>
            <a:ext cx="4297680" cy="34271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789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nulls &amp; duplicates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9844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before splitting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79222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+ remove URLs &amp; punctuation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0116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raw 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50545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title + 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72491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combined_text field per article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21868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43814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29,143 train · 7,286 test · balanced labels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TF-IDF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cannot be fed directly to a model — TF-IDF converts each article into a numerical vector.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1417320"/>
            <a:ext cx="1737360" cy="169164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947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2240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word appears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document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(normalised by doc length)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196596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703320" y="1417320"/>
            <a:ext cx="1737360" cy="169164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03320" y="1947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Document Freq.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2240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Downweights words that appear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many documents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(common ≠ informative)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196596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760720" y="1417320"/>
            <a:ext cx="1737360" cy="16916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60720" y="1947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 word per doc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2240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= word is frequent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but rare elsewhere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(discriminative signal)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used in this project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50000 features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169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14600" y="4169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 Bigrams (1,2)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stop words removed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169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matrix: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4169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29143 × 50,000  (train)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— Baselines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 — establish a performance floor before adding complexity.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5204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8132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810512"/>
            <a:ext cx="128016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" y="228600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19456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Bayes' theorem — calculates the probability of each class given the words in the article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278892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6974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all words are independent of each other (the "naive" assumption)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329184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2004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to train — works directly with TF-IDF scores (non-negative values)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" y="379476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70332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 strong for text despite its simplicity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429768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2062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as a fast first baseline to beat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4114800" cy="352044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371600"/>
            <a:ext cx="41148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148132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965192" y="1810512"/>
            <a:ext cx="12801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Classifier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6092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965192" y="2286000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11496" y="219456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weight for each word — positive weights push toward Real, negative toward Fake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65192" y="2788920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11496" y="26974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sigmoid function to output a probability between 0 and 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65192" y="3291840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11496" y="32004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NLP baseline — consistently competitive with more complex models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65192" y="3794760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11496" y="370332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train, easy to interpret (inspect word weights directly)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65192" y="4297680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11496" y="42062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solver='liblinear' — efficient for sparse high-dimensional data like TF-IDF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— Advanced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— combine multiple decision trees for higher accuracy and robustness.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52044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8132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810512"/>
            <a:ext cx="14173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Ensemble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8036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" y="228600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19456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100 independent decision trees, each trained on a random subset of data and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278892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6974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votes — the majority class wins ("bagging")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329184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2004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than a single tree — individual errors cancel out across the ensemble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" y="379476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70332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n_jobs=-1 trains all trees in parallel using all CPU cores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429768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2062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prone to overfitting than a single deep tree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4114800" cy="35204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371600"/>
            <a:ext cx="4114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148132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965192" y="1810512"/>
            <a:ext cx="14173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Ensemble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2376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65192" y="228600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11496" y="219456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 — each new tree focuses on correcting the errors of the previous 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65192" y="278892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11496" y="26974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"Boosting" = iteratively improve weak learners into a strong combined model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65192" y="329184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11496" y="32004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train than Random Forest but consistently the most accurate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65192" y="379476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11496" y="370332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careful tuning (learning rate, tree depth) to avoid overfitting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65192" y="42976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11496" y="42062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best model — 99.6% accuracy, 99.9% AUC-ROC on unseen test data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classifiers evaluated: Naive Bayes · Logistic Regression · Random Forest · Gradient Boosting</a:t>
            </a:r>
            <a:endParaRPr lang="en-US" sz="1200" dirty="0"/>
          </a:p>
        </p:txBody>
      </p:sp>
      <p:pic>
        <p:nvPicPr>
          <p:cNvPr id="5" name="Image 0" descr="/home/claude/eval_01_model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2588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achieves the fewest errors: 22 FP + 12 FN out of 7,989 test articles.</a:t>
            </a:r>
            <a:endParaRPr lang="en-US" sz="1200" dirty="0"/>
          </a:p>
        </p:txBody>
      </p:sp>
      <p:pic>
        <p:nvPicPr>
          <p:cNvPr id="5" name="Image 0" descr="/home/claude/eval_02_confusion_matric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0065" y="1362456"/>
            <a:ext cx="8346735" cy="26347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Gradient Boosting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50876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90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21408" y="1005840"/>
            <a:ext cx="150876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408" y="10424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21408" y="1490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85616" y="1005840"/>
            <a:ext cx="150876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0424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85616" y="1490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9824" y="1005840"/>
            <a:ext cx="150876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9824" y="10424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49824" y="1490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14032" y="1005840"/>
            <a:ext cx="150876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10424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1490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pic>
        <p:nvPicPr>
          <p:cNvPr id="19" name="Image 0" descr="/home/claude/best_01_top_featur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965960"/>
            <a:ext cx="8229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698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is enough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bag-of-words with bigrams captures discriminative signals effectively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19656"/>
            <a:ext cx="54864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379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matters most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9397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"reuters" is the strongest single predictor of real news; "video/image" for fake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54864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060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over content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8620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titles are longer (~15 words) and use more informal/emotional language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55848"/>
            <a:ext cx="54864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741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6301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accuracy — outperforms Logistic Regression, Naive Bayes and Random Forest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23944"/>
            <a:ext cx="54864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422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caveat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3982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articles all have dates; Fake do not — model may partly detect formatting, not just content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824</Words>
  <Application>Microsoft Macintosh PowerPoint</Application>
  <PresentationFormat>On-screen Show (16:9)</PresentationFormat>
  <Paragraphs>167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Classifier — NLP Project</dc:title>
  <dc:subject>PptxGenJS Presentation</dc:subject>
  <dc:creator>PptxGenJS</dc:creator>
  <cp:lastModifiedBy>Don Mithila Palliyaguruge</cp:lastModifiedBy>
  <cp:revision>6</cp:revision>
  <dcterms:created xsi:type="dcterms:W3CDTF">2026-05-19T18:17:57Z</dcterms:created>
  <dcterms:modified xsi:type="dcterms:W3CDTF">2026-05-21T18:38:46Z</dcterms:modified>
</cp:coreProperties>
</file>